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ork\Downloads\&#1043;&#1088;&#1072;&#1092;&#1080;&#1082;%20add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3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импликант на каждой операции.</a:t>
            </a:r>
            <a:r>
              <a:rPr lang="ru-RU" sz="3200" baseline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Бенчмарк </a:t>
            </a:r>
            <a:r>
              <a:rPr lang="en-US" sz="3200" baseline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Adder EPFL.</a:t>
            </a:r>
            <a:endParaRPr lang="ru-RU" sz="3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'График adder'!$A$1:$A$167</c:f>
              <c:numCache>
                <c:formatCode>General</c:formatCode>
                <c:ptCount val="16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</c:numCache>
            </c:numRef>
          </c:cat>
          <c:val>
            <c:numRef>
              <c:f>'График adder'!$B$1:$B$167</c:f>
              <c:numCache>
                <c:formatCode>General</c:formatCode>
                <c:ptCount val="167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10</c:v>
                </c:pt>
                <c:pt idx="7">
                  <c:v>8</c:v>
                </c:pt>
                <c:pt idx="8">
                  <c:v>10</c:v>
                </c:pt>
                <c:pt idx="9">
                  <c:v>10</c:v>
                </c:pt>
                <c:pt idx="10">
                  <c:v>8</c:v>
                </c:pt>
                <c:pt idx="11">
                  <c:v>10</c:v>
                </c:pt>
                <c:pt idx="12">
                  <c:v>12</c:v>
                </c:pt>
                <c:pt idx="13">
                  <c:v>10</c:v>
                </c:pt>
                <c:pt idx="14">
                  <c:v>8</c:v>
                </c:pt>
                <c:pt idx="15">
                  <c:v>10</c:v>
                </c:pt>
                <c:pt idx="16">
                  <c:v>12</c:v>
                </c:pt>
                <c:pt idx="17">
                  <c:v>14</c:v>
                </c:pt>
                <c:pt idx="18">
                  <c:v>12</c:v>
                </c:pt>
                <c:pt idx="19">
                  <c:v>10</c:v>
                </c:pt>
                <c:pt idx="20">
                  <c:v>12</c:v>
                </c:pt>
                <c:pt idx="21">
                  <c:v>14</c:v>
                </c:pt>
                <c:pt idx="22">
                  <c:v>12</c:v>
                </c:pt>
                <c:pt idx="23">
                  <c:v>14</c:v>
                </c:pt>
                <c:pt idx="24">
                  <c:v>16</c:v>
                </c:pt>
                <c:pt idx="25">
                  <c:v>14</c:v>
                </c:pt>
                <c:pt idx="26">
                  <c:v>16</c:v>
                </c:pt>
                <c:pt idx="27">
                  <c:v>16</c:v>
                </c:pt>
                <c:pt idx="28">
                  <c:v>18</c:v>
                </c:pt>
                <c:pt idx="29">
                  <c:v>16</c:v>
                </c:pt>
                <c:pt idx="30">
                  <c:v>18</c:v>
                </c:pt>
                <c:pt idx="31">
                  <c:v>20</c:v>
                </c:pt>
                <c:pt idx="32">
                  <c:v>20</c:v>
                </c:pt>
                <c:pt idx="33">
                  <c:v>16</c:v>
                </c:pt>
                <c:pt idx="34">
                  <c:v>18</c:v>
                </c:pt>
                <c:pt idx="35">
                  <c:v>20</c:v>
                </c:pt>
                <c:pt idx="36">
                  <c:v>22</c:v>
                </c:pt>
                <c:pt idx="37">
                  <c:v>20</c:v>
                </c:pt>
                <c:pt idx="38">
                  <c:v>14</c:v>
                </c:pt>
                <c:pt idx="39">
                  <c:v>22</c:v>
                </c:pt>
                <c:pt idx="40">
                  <c:v>10</c:v>
                </c:pt>
                <c:pt idx="41">
                  <c:v>12</c:v>
                </c:pt>
                <c:pt idx="42">
                  <c:v>14</c:v>
                </c:pt>
                <c:pt idx="43">
                  <c:v>16</c:v>
                </c:pt>
                <c:pt idx="44">
                  <c:v>14</c:v>
                </c:pt>
                <c:pt idx="45">
                  <c:v>12</c:v>
                </c:pt>
                <c:pt idx="46">
                  <c:v>14</c:v>
                </c:pt>
                <c:pt idx="47">
                  <c:v>16</c:v>
                </c:pt>
                <c:pt idx="48">
                  <c:v>14</c:v>
                </c:pt>
                <c:pt idx="49">
                  <c:v>16</c:v>
                </c:pt>
                <c:pt idx="50">
                  <c:v>18</c:v>
                </c:pt>
                <c:pt idx="51">
                  <c:v>16</c:v>
                </c:pt>
                <c:pt idx="52">
                  <c:v>18</c:v>
                </c:pt>
                <c:pt idx="53">
                  <c:v>18</c:v>
                </c:pt>
                <c:pt idx="54">
                  <c:v>20</c:v>
                </c:pt>
                <c:pt idx="55">
                  <c:v>18</c:v>
                </c:pt>
                <c:pt idx="56">
                  <c:v>20</c:v>
                </c:pt>
                <c:pt idx="57">
                  <c:v>22</c:v>
                </c:pt>
                <c:pt idx="58">
                  <c:v>22</c:v>
                </c:pt>
                <c:pt idx="59">
                  <c:v>18</c:v>
                </c:pt>
                <c:pt idx="60">
                  <c:v>18</c:v>
                </c:pt>
                <c:pt idx="61">
                  <c:v>20</c:v>
                </c:pt>
                <c:pt idx="62">
                  <c:v>22</c:v>
                </c:pt>
                <c:pt idx="63">
                  <c:v>20</c:v>
                </c:pt>
                <c:pt idx="64">
                  <c:v>18</c:v>
                </c:pt>
                <c:pt idx="65">
                  <c:v>20</c:v>
                </c:pt>
                <c:pt idx="66">
                  <c:v>22</c:v>
                </c:pt>
                <c:pt idx="67">
                  <c:v>24</c:v>
                </c:pt>
                <c:pt idx="68">
                  <c:v>24</c:v>
                </c:pt>
                <c:pt idx="69">
                  <c:v>26</c:v>
                </c:pt>
                <c:pt idx="70">
                  <c:v>24</c:v>
                </c:pt>
                <c:pt idx="71">
                  <c:v>26</c:v>
                </c:pt>
                <c:pt idx="72">
                  <c:v>30</c:v>
                </c:pt>
                <c:pt idx="73">
                  <c:v>30</c:v>
                </c:pt>
                <c:pt idx="74">
                  <c:v>30</c:v>
                </c:pt>
                <c:pt idx="75">
                  <c:v>32</c:v>
                </c:pt>
                <c:pt idx="76">
                  <c:v>32</c:v>
                </c:pt>
                <c:pt idx="77">
                  <c:v>32</c:v>
                </c:pt>
                <c:pt idx="78">
                  <c:v>30</c:v>
                </c:pt>
                <c:pt idx="79">
                  <c:v>32</c:v>
                </c:pt>
                <c:pt idx="80">
                  <c:v>32</c:v>
                </c:pt>
                <c:pt idx="81">
                  <c:v>68</c:v>
                </c:pt>
                <c:pt idx="82">
                  <c:v>0</c:v>
                </c:pt>
                <c:pt idx="83">
                  <c:v>2</c:v>
                </c:pt>
                <c:pt idx="84">
                  <c:v>4</c:v>
                </c:pt>
                <c:pt idx="85">
                  <c:v>6</c:v>
                </c:pt>
                <c:pt idx="86">
                  <c:v>4</c:v>
                </c:pt>
                <c:pt idx="87">
                  <c:v>2</c:v>
                </c:pt>
                <c:pt idx="88">
                  <c:v>4</c:v>
                </c:pt>
                <c:pt idx="89">
                  <c:v>6</c:v>
                </c:pt>
                <c:pt idx="90">
                  <c:v>4</c:v>
                </c:pt>
                <c:pt idx="91">
                  <c:v>6</c:v>
                </c:pt>
                <c:pt idx="92">
                  <c:v>8</c:v>
                </c:pt>
                <c:pt idx="93">
                  <c:v>6</c:v>
                </c:pt>
                <c:pt idx="94">
                  <c:v>8</c:v>
                </c:pt>
                <c:pt idx="95">
                  <c:v>8</c:v>
                </c:pt>
                <c:pt idx="96">
                  <c:v>10</c:v>
                </c:pt>
                <c:pt idx="97">
                  <c:v>8</c:v>
                </c:pt>
                <c:pt idx="98">
                  <c:v>10</c:v>
                </c:pt>
                <c:pt idx="99">
                  <c:v>12</c:v>
                </c:pt>
                <c:pt idx="100">
                  <c:v>12</c:v>
                </c:pt>
                <c:pt idx="101">
                  <c:v>8</c:v>
                </c:pt>
                <c:pt idx="102">
                  <c:v>6</c:v>
                </c:pt>
                <c:pt idx="103">
                  <c:v>8</c:v>
                </c:pt>
                <c:pt idx="104">
                  <c:v>10</c:v>
                </c:pt>
                <c:pt idx="105">
                  <c:v>8</c:v>
                </c:pt>
                <c:pt idx="106">
                  <c:v>6</c:v>
                </c:pt>
                <c:pt idx="107">
                  <c:v>6</c:v>
                </c:pt>
                <c:pt idx="108">
                  <c:v>8</c:v>
                </c:pt>
                <c:pt idx="109">
                  <c:v>10</c:v>
                </c:pt>
                <c:pt idx="110">
                  <c:v>10</c:v>
                </c:pt>
                <c:pt idx="111">
                  <c:v>12</c:v>
                </c:pt>
                <c:pt idx="112">
                  <c:v>10</c:v>
                </c:pt>
                <c:pt idx="113">
                  <c:v>12</c:v>
                </c:pt>
                <c:pt idx="114">
                  <c:v>16</c:v>
                </c:pt>
                <c:pt idx="115">
                  <c:v>16</c:v>
                </c:pt>
                <c:pt idx="116">
                  <c:v>16</c:v>
                </c:pt>
                <c:pt idx="117">
                  <c:v>18</c:v>
                </c:pt>
                <c:pt idx="118">
                  <c:v>18</c:v>
                </c:pt>
                <c:pt idx="119">
                  <c:v>16</c:v>
                </c:pt>
                <c:pt idx="120">
                  <c:v>16</c:v>
                </c:pt>
                <c:pt idx="121">
                  <c:v>18</c:v>
                </c:pt>
                <c:pt idx="122">
                  <c:v>16</c:v>
                </c:pt>
                <c:pt idx="123">
                  <c:v>56</c:v>
                </c:pt>
                <c:pt idx="124">
                  <c:v>58</c:v>
                </c:pt>
                <c:pt idx="125">
                  <c:v>60</c:v>
                </c:pt>
                <c:pt idx="126">
                  <c:v>58</c:v>
                </c:pt>
                <c:pt idx="127">
                  <c:v>60</c:v>
                </c:pt>
                <c:pt idx="128">
                  <c:v>62</c:v>
                </c:pt>
                <c:pt idx="129">
                  <c:v>64</c:v>
                </c:pt>
                <c:pt idx="130">
                  <c:v>66</c:v>
                </c:pt>
                <c:pt idx="131">
                  <c:v>64</c:v>
                </c:pt>
                <c:pt idx="132">
                  <c:v>66</c:v>
                </c:pt>
                <c:pt idx="133">
                  <c:v>66</c:v>
                </c:pt>
                <c:pt idx="134">
                  <c:v>66</c:v>
                </c:pt>
                <c:pt idx="135">
                  <c:v>68</c:v>
                </c:pt>
                <c:pt idx="136">
                  <c:v>68</c:v>
                </c:pt>
                <c:pt idx="137">
                  <c:v>66</c:v>
                </c:pt>
                <c:pt idx="138">
                  <c:v>70</c:v>
                </c:pt>
                <c:pt idx="139">
                  <c:v>72</c:v>
                </c:pt>
                <c:pt idx="140">
                  <c:v>74</c:v>
                </c:pt>
                <c:pt idx="141">
                  <c:v>76</c:v>
                </c:pt>
                <c:pt idx="142">
                  <c:v>74</c:v>
                </c:pt>
                <c:pt idx="143">
                  <c:v>72</c:v>
                </c:pt>
                <c:pt idx="144">
                  <c:v>74</c:v>
                </c:pt>
                <c:pt idx="145">
                  <c:v>76</c:v>
                </c:pt>
                <c:pt idx="146">
                  <c:v>74</c:v>
                </c:pt>
                <c:pt idx="147">
                  <c:v>76</c:v>
                </c:pt>
                <c:pt idx="148">
                  <c:v>78</c:v>
                </c:pt>
                <c:pt idx="149">
                  <c:v>76</c:v>
                </c:pt>
                <c:pt idx="150">
                  <c:v>78</c:v>
                </c:pt>
                <c:pt idx="151">
                  <c:v>78</c:v>
                </c:pt>
                <c:pt idx="152">
                  <c:v>80</c:v>
                </c:pt>
                <c:pt idx="153">
                  <c:v>78</c:v>
                </c:pt>
                <c:pt idx="154">
                  <c:v>80</c:v>
                </c:pt>
                <c:pt idx="155">
                  <c:v>82</c:v>
                </c:pt>
                <c:pt idx="156">
                  <c:v>82</c:v>
                </c:pt>
                <c:pt idx="157">
                  <c:v>82</c:v>
                </c:pt>
                <c:pt idx="158">
                  <c:v>80</c:v>
                </c:pt>
                <c:pt idx="159">
                  <c:v>82</c:v>
                </c:pt>
                <c:pt idx="160">
                  <c:v>84</c:v>
                </c:pt>
                <c:pt idx="161">
                  <c:v>84</c:v>
                </c:pt>
                <c:pt idx="162">
                  <c:v>84</c:v>
                </c:pt>
                <c:pt idx="163">
                  <c:v>90</c:v>
                </c:pt>
                <c:pt idx="164">
                  <c:v>88</c:v>
                </c:pt>
                <c:pt idx="165">
                  <c:v>0</c:v>
                </c:pt>
                <c:pt idx="16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E-4285-8365-05DE3CCC0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41439920"/>
        <c:axId val="1819870240"/>
      </c:lineChart>
      <c:catAx>
        <c:axId val="164143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19870240"/>
        <c:crosses val="autoZero"/>
        <c:auto val="1"/>
        <c:lblAlgn val="ctr"/>
        <c:lblOffset val="100"/>
        <c:noMultiLvlLbl val="0"/>
      </c:catAx>
      <c:valAx>
        <c:axId val="181987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143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19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13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91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45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10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21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40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97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74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4014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437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071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462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948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632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EC0B7-9453-47EF-95BF-EDA62F28CE1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1EEA830-545E-46D2-A228-DD8A8139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75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1F60B-7485-4A84-995F-2A53E47C6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и реализация алгоритма формальной верификации на основе матричных вычислений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AF7AFC-47A5-429E-9A27-DA5F2830A2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Меньшиков Матвей Павлович, Институт 4, кафедра 41, ГУАП</a:t>
            </a:r>
          </a:p>
          <a:p>
            <a:r>
              <a:rPr lang="ru-RU" dirty="0"/>
              <a:t>Научный руководитель</a:t>
            </a:r>
            <a:r>
              <a:rPr lang="en-US" dirty="0"/>
              <a:t>: </a:t>
            </a:r>
            <a:r>
              <a:rPr lang="ru-RU" dirty="0"/>
              <a:t>Мирошниченко Никита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226344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9DA56-B16A-4FD9-A2A7-25CD1959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Применение в проектировании систем на кристалле</a:t>
            </a:r>
            <a:r>
              <a:rPr lang="en-US" dirty="0"/>
              <a:t> (SoC Design)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EB5189-26D0-47CB-95EF-9E8F3A07E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Уровень регистровых передач (</a:t>
            </a:r>
            <a:r>
              <a:rPr lang="en-US" sz="2000" dirty="0">
                <a:solidFill>
                  <a:schemeClr val="tx1"/>
                </a:solidFill>
              </a:rPr>
              <a:t>RTL)</a:t>
            </a:r>
          </a:p>
          <a:p>
            <a:r>
              <a:rPr lang="ru-RU" sz="2000" dirty="0">
                <a:solidFill>
                  <a:schemeClr val="tx1"/>
                </a:solidFill>
              </a:rPr>
              <a:t>Уровень </a:t>
            </a:r>
            <a:r>
              <a:rPr lang="en-US" sz="2000" dirty="0">
                <a:solidFill>
                  <a:schemeClr val="tx1"/>
                </a:solidFill>
              </a:rPr>
              <a:t>Netlist</a:t>
            </a:r>
            <a:endParaRPr lang="ru-RU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Задача эквивалентности </a:t>
            </a:r>
            <a:r>
              <a:rPr lang="en-US" sz="2000" dirty="0">
                <a:solidFill>
                  <a:schemeClr val="tx1"/>
                </a:solidFill>
              </a:rPr>
              <a:t>(LEC) – </a:t>
            </a:r>
            <a:r>
              <a:rPr lang="ru-RU" sz="2000" dirty="0">
                <a:solidFill>
                  <a:schemeClr val="tx1"/>
                </a:solidFill>
              </a:rPr>
              <a:t>частный случай формальной верификации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2CB004-AD56-4A35-A09D-B06E1FC1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3631764"/>
            <a:ext cx="9764488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5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BBD0B-C1FD-4D9B-B101-F013DDDF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98854"/>
            <a:ext cx="8911687" cy="1276865"/>
          </a:xfrm>
        </p:spPr>
        <p:txBody>
          <a:bodyPr/>
          <a:lstStyle/>
          <a:p>
            <a:r>
              <a:rPr lang="en-US" dirty="0"/>
              <a:t>NP-</a:t>
            </a:r>
            <a:r>
              <a:rPr lang="ru-RU" dirty="0"/>
              <a:t>трудность. Современные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E5813A-D598-4500-8ECB-EF92A21E7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75719"/>
            <a:ext cx="8915400" cy="52028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Детерминированные алгоритмы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  <a:endParaRPr lang="ru-RU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Эвристики, в худшем случае – экспоненциальное время</a:t>
            </a:r>
          </a:p>
          <a:p>
            <a:r>
              <a:rPr lang="ru-RU" sz="2400" dirty="0">
                <a:solidFill>
                  <a:schemeClr val="tx1"/>
                </a:solidFill>
              </a:rPr>
              <a:t>И-НЕ графы </a:t>
            </a:r>
            <a:r>
              <a:rPr lang="en-US" sz="2400" dirty="0">
                <a:solidFill>
                  <a:schemeClr val="tx1"/>
                </a:solidFill>
              </a:rPr>
              <a:t>And-Inverter Graphs</a:t>
            </a:r>
            <a:r>
              <a:rPr lang="ru-RU" sz="2400" dirty="0">
                <a:solidFill>
                  <a:schemeClr val="tx1"/>
                </a:solidFill>
              </a:rPr>
              <a:t> (</a:t>
            </a:r>
            <a:r>
              <a:rPr lang="en-US" sz="2400" dirty="0">
                <a:solidFill>
                  <a:schemeClr val="tx1"/>
                </a:solidFill>
              </a:rPr>
              <a:t>AIG, </a:t>
            </a:r>
            <a:r>
              <a:rPr lang="ru-RU" sz="2400" dirty="0">
                <a:solidFill>
                  <a:schemeClr val="tx1"/>
                </a:solidFill>
              </a:rPr>
              <a:t>программа </a:t>
            </a:r>
            <a:r>
              <a:rPr lang="en-US" sz="2400" dirty="0">
                <a:solidFill>
                  <a:schemeClr val="tx1"/>
                </a:solidFill>
              </a:rPr>
              <a:t>ABC)</a:t>
            </a:r>
          </a:p>
          <a:p>
            <a:r>
              <a:rPr lang="ru-RU" sz="2400" dirty="0">
                <a:solidFill>
                  <a:schemeClr val="tx1"/>
                </a:solidFill>
              </a:rPr>
              <a:t>Бинарные диаграммы решений </a:t>
            </a:r>
            <a:r>
              <a:rPr lang="en-US" sz="2400" dirty="0">
                <a:solidFill>
                  <a:schemeClr val="tx1"/>
                </a:solidFill>
              </a:rPr>
              <a:t>(BDD)</a:t>
            </a:r>
            <a:endParaRPr lang="ru-RU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SAT-</a:t>
            </a:r>
            <a:r>
              <a:rPr lang="ru-RU" sz="2400" dirty="0">
                <a:solidFill>
                  <a:schemeClr val="tx1"/>
                </a:solidFill>
              </a:rPr>
              <a:t>солверы, </a:t>
            </a:r>
            <a:r>
              <a:rPr lang="en-US" sz="2400" dirty="0">
                <a:solidFill>
                  <a:schemeClr val="tx1"/>
                </a:solidFill>
              </a:rPr>
              <a:t>SMT-</a:t>
            </a:r>
            <a:r>
              <a:rPr lang="ru-RU" sz="2400" dirty="0">
                <a:solidFill>
                  <a:schemeClr val="tx1"/>
                </a:solidFill>
              </a:rPr>
              <a:t>солверы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Преимущества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  <a:r>
              <a:rPr lang="ru-RU" sz="2400" dirty="0">
                <a:solidFill>
                  <a:schemeClr val="tx1"/>
                </a:solidFill>
              </a:rPr>
              <a:t> гарантируется правильный результат, быстрые в большинстве практических задач</a:t>
            </a:r>
          </a:p>
          <a:p>
            <a:r>
              <a:rPr lang="ru-RU" sz="2400" dirty="0">
                <a:solidFill>
                  <a:schemeClr val="tx1"/>
                </a:solidFill>
              </a:rPr>
              <a:t>Недостатки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ru-RU" sz="2400" dirty="0">
                <a:solidFill>
                  <a:schemeClr val="tx1"/>
                </a:solidFill>
              </a:rPr>
              <a:t>непредсказуемы по времени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395592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1E3A2-EB41-49BB-8370-20D498081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71F6D18B-FA60-4ACC-BCE7-C33F0AC14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037103"/>
              </p:ext>
            </p:extLst>
          </p:nvPr>
        </p:nvGraphicFramePr>
        <p:xfrm>
          <a:off x="1447800" y="241300"/>
          <a:ext cx="10312398" cy="68191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6426">
                  <a:extLst>
                    <a:ext uri="{9D8B030D-6E8A-4147-A177-3AD203B41FA5}">
                      <a16:colId xmlns:a16="http://schemas.microsoft.com/office/drawing/2014/main" val="3943759627"/>
                    </a:ext>
                  </a:extLst>
                </a:gridCol>
                <a:gridCol w="1912974">
                  <a:extLst>
                    <a:ext uri="{9D8B030D-6E8A-4147-A177-3AD203B41FA5}">
                      <a16:colId xmlns:a16="http://schemas.microsoft.com/office/drawing/2014/main" val="4008168953"/>
                    </a:ext>
                  </a:extLst>
                </a:gridCol>
                <a:gridCol w="2784720">
                  <a:extLst>
                    <a:ext uri="{9D8B030D-6E8A-4147-A177-3AD203B41FA5}">
                      <a16:colId xmlns:a16="http://schemas.microsoft.com/office/drawing/2014/main" val="2325146823"/>
                    </a:ext>
                  </a:extLst>
                </a:gridCol>
                <a:gridCol w="1723780">
                  <a:extLst>
                    <a:ext uri="{9D8B030D-6E8A-4147-A177-3AD203B41FA5}">
                      <a16:colId xmlns:a16="http://schemas.microsoft.com/office/drawing/2014/main" val="2045666624"/>
                    </a:ext>
                  </a:extLst>
                </a:gridCol>
                <a:gridCol w="2984498">
                  <a:extLst>
                    <a:ext uri="{9D8B030D-6E8A-4147-A177-3AD203B41FA5}">
                      <a16:colId xmlns:a16="http://schemas.microsoft.com/office/drawing/2014/main" val="3474323192"/>
                    </a:ext>
                  </a:extLst>
                </a:gridCol>
              </a:tblGrid>
              <a:tr h="1093745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Порядок операции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Множество – одна переменная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Множество – дискретная функция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889580"/>
                  </a:ext>
                </a:extLst>
              </a:tr>
              <a:tr h="39695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>
                          <a:effectLst/>
                        </a:rPr>
                        <a:t>Описание области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Диаграмма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Описание области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Диаграмма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9494135"/>
                  </a:ext>
                </a:extLst>
              </a:tr>
              <a:tr h="1168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>
                          <a:effectLst/>
                        </a:rPr>
                        <a:t>1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¬</a:t>
                      </a:r>
                      <a:r>
                        <a:rPr lang="en-US" sz="2000" kern="100" dirty="0" smtClean="0">
                          <a:effectLst/>
                        </a:rPr>
                        <a:t>z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¬</a:t>
                      </a:r>
                      <a:r>
                        <a:rPr lang="en-US" sz="2000" kern="100" dirty="0" smtClean="0">
                          <a:effectLst/>
                        </a:rPr>
                        <a:t>z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1634345"/>
                  </a:ext>
                </a:extLst>
              </a:tr>
              <a:tr h="2196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>
                          <a:effectLst/>
                        </a:rPr>
                        <a:t>2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y </a:t>
                      </a:r>
                      <a:r>
                        <a:rPr lang="en-US" sz="2000" kern="100" dirty="0" smtClean="0">
                          <a:effectLst/>
                        </a:rPr>
                        <a:t>&amp;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¬</a:t>
                      </a:r>
                      <a:r>
                        <a:rPr lang="en-US" sz="2000" kern="100" dirty="0" smtClean="0">
                          <a:effectLst/>
                        </a:rPr>
                        <a:t>z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y </a:t>
                      </a:r>
                      <a:r>
                        <a:rPr lang="en-US" sz="2000" kern="100" dirty="0" smtClean="0">
                          <a:effectLst/>
                        </a:rPr>
                        <a:t>&amp;</a:t>
                      </a:r>
                      <a:r>
                        <a:rPr lang="ru-RU" sz="2000" kern="100" dirty="0" smtClean="0">
                          <a:effectLst/>
                        </a:rPr>
                        <a:t> </a:t>
                      </a:r>
                      <a:r>
                        <a:rPr lang="en-US" sz="2000" kern="100" dirty="0">
                          <a:effectLst/>
                        </a:rPr>
                        <a:t>(1)</a:t>
                      </a:r>
                      <a:endParaRPr lang="ru-RU" sz="2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(1): </a:t>
                      </a:r>
                      <a:endParaRPr lang="ru-RU" sz="2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F(z)=!(z)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7296128"/>
                  </a:ext>
                </a:extLst>
              </a:tr>
              <a:tr h="16594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>
                          <a:effectLst/>
                        </a:rPr>
                        <a:t>3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x </a:t>
                      </a:r>
                      <a:r>
                        <a:rPr lang="en-US" sz="2000" b="1" kern="100" dirty="0" smtClean="0">
                          <a:effectLst/>
                        </a:rPr>
                        <a:t>|</a:t>
                      </a:r>
                      <a:r>
                        <a:rPr lang="ru-RU" sz="2000" b="1" kern="100" dirty="0" smtClean="0">
                          <a:effectLst/>
                        </a:rPr>
                        <a:t> </a:t>
                      </a:r>
                      <a:r>
                        <a:rPr lang="en-US" sz="2000" b="1" kern="100" dirty="0">
                          <a:effectLst/>
                        </a:rPr>
                        <a:t>y </a:t>
                      </a:r>
                      <a:r>
                        <a:rPr lang="en-US" sz="2000" b="1" kern="100" dirty="0" smtClean="0">
                          <a:effectLst/>
                        </a:rPr>
                        <a:t>&amp;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¬</a:t>
                      </a:r>
                      <a:r>
                        <a:rPr lang="en-US" sz="2000" b="1" kern="100" dirty="0" smtClean="0">
                          <a:effectLst/>
                        </a:rPr>
                        <a:t>z</a:t>
                      </a:r>
                      <a:endParaRPr lang="ru-RU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x </a:t>
                      </a:r>
                      <a:r>
                        <a:rPr lang="en-US" sz="2000" kern="100" dirty="0" smtClean="0">
                          <a:effectLst/>
                        </a:rPr>
                        <a:t>| </a:t>
                      </a:r>
                      <a:r>
                        <a:rPr lang="en-US" sz="2000" kern="100" dirty="0">
                          <a:effectLst/>
                        </a:rPr>
                        <a:t>(2)</a:t>
                      </a:r>
                      <a:endParaRPr lang="ru-RU" sz="2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</a:rPr>
                        <a:t>(2)</a:t>
                      </a:r>
                      <a:r>
                        <a:rPr lang="en-US" sz="2000" kern="100" dirty="0">
                          <a:effectLst/>
                        </a:rPr>
                        <a:t>:</a:t>
                      </a:r>
                      <a:endParaRPr lang="ru-RU" sz="2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F(y,z)=y&amp;!(z)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722034"/>
                  </a:ext>
                </a:extLst>
              </a:tr>
            </a:tbl>
          </a:graphicData>
        </a:graphic>
      </p:graphicFrame>
      <p:pic>
        <p:nvPicPr>
          <p:cNvPr id="1042" name="Рисунок 1">
            <a:extLst>
              <a:ext uri="{FF2B5EF4-FFF2-40B4-BE49-F238E27FC236}">
                <a16:creationId xmlns:a16="http://schemas.microsoft.com/office/drawing/2014/main" id="{053A1733-AB86-4645-BE20-358890336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047276"/>
            <a:ext cx="1870077" cy="110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Рисунок 4">
            <a:extLst>
              <a:ext uri="{FF2B5EF4-FFF2-40B4-BE49-F238E27FC236}">
                <a16:creationId xmlns:a16="http://schemas.microsoft.com/office/drawing/2014/main" id="{58A97CB2-4AB0-4B7F-AFD9-8076625A1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300" y="2047276"/>
            <a:ext cx="1870077" cy="110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Рисунок 5">
            <a:extLst>
              <a:ext uri="{FF2B5EF4-FFF2-40B4-BE49-F238E27FC236}">
                <a16:creationId xmlns:a16="http://schemas.microsoft.com/office/drawing/2014/main" id="{57943032-E42C-432C-98FF-0693AC5CF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3429000"/>
            <a:ext cx="2549523" cy="1441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Рисунок 6">
            <a:extLst>
              <a:ext uri="{FF2B5EF4-FFF2-40B4-BE49-F238E27FC236}">
                <a16:creationId xmlns:a16="http://schemas.microsoft.com/office/drawing/2014/main" id="{6DDD9388-A6F9-450F-AC52-09DC0D731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811" y="3539191"/>
            <a:ext cx="2555733" cy="141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Рисунок 8">
            <a:extLst>
              <a:ext uri="{FF2B5EF4-FFF2-40B4-BE49-F238E27FC236}">
                <a16:creationId xmlns:a16="http://schemas.microsoft.com/office/drawing/2014/main" id="{4211CE2B-AE6E-4D63-875F-E4D4ABA4C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5416614"/>
            <a:ext cx="1984374" cy="144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Рисунок 7">
            <a:extLst>
              <a:ext uri="{FF2B5EF4-FFF2-40B4-BE49-F238E27FC236}">
                <a16:creationId xmlns:a16="http://schemas.microsoft.com/office/drawing/2014/main" id="{8C64D2EB-AEF4-4135-AF5D-D20BD6CD7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621" y="5470355"/>
            <a:ext cx="2424112" cy="13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06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>
              <a:xfrm>
                <a:off x="2592925" y="65903"/>
                <a:ext cx="8911687" cy="922639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sz="2000" dirty="0" smtClean="0"/>
                  <a:t>Составить ДНФ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ru-RU" sz="22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ru-RU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&amp; !</m:t>
                        </m:r>
                        <m:d>
                          <m:d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 &amp; </m:t>
                    </m:r>
                    <m:d>
                      <m:dPr>
                        <m:endChr m:val=""/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 &amp;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/>
                </a:r>
                <a:br>
                  <a:rPr lang="ru-RU" dirty="0"/>
                </a:br>
                <a:r>
                  <a:rPr lang="en-US" sz="2000" dirty="0" smtClean="0"/>
                  <a:t>NNF: </a:t>
                </a:r>
                <a14:m>
                  <m:oMath xmlns:m="http://schemas.openxmlformats.org/officeDocument/2006/math">
                    <m:r>
                      <a:rPr lang="ru-RU" sz="22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ru-RU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&amp;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d>
                      <m:dPr>
                        <m:endChr m:val=""/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p>
                      <m:sSup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!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!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 </m:t>
                    </m:r>
                    <m:sSup>
                      <m:sSup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/>
                </a:r>
                <a:br>
                  <a:rPr lang="ru-RU" dirty="0"/>
                </a:br>
                <a:endParaRPr lang="ru-RU" sz="2000" dirty="0"/>
              </a:p>
            </p:txBody>
          </p:sp>
        </mc:Choice>
        <mc:Fallback xmlns=""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2925" y="65903"/>
                <a:ext cx="8911687" cy="922639"/>
              </a:xfrm>
              <a:blipFill>
                <a:blip r:embed="rId2"/>
                <a:stretch>
                  <a:fillRect l="-547" t="-52318" b="-291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911" y="923153"/>
            <a:ext cx="964882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F2B4980-A0EE-4B55-B26D-637A2F73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2" y="596900"/>
            <a:ext cx="9726611" cy="1357835"/>
          </a:xfrm>
        </p:spPr>
        <p:txBody>
          <a:bodyPr/>
          <a:lstStyle/>
          <a:p>
            <a:r>
              <a:rPr lang="ru-RU" dirty="0"/>
              <a:t>Троичная матрица. Операции </a:t>
            </a:r>
            <a:r>
              <a:rPr lang="en-US" dirty="0"/>
              <a:t>AND, OR </a:t>
            </a:r>
            <a:r>
              <a:rPr lang="ru-RU" dirty="0"/>
              <a:t>над матрицами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C7538F57-25BC-4237-B7FF-5DCD6D9C2325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91375" y="2134734"/>
            <a:ext cx="4313238" cy="3760108"/>
          </a:xfrm>
          <a:prstGeom prst="rect">
            <a:avLst/>
          </a:prstGeom>
        </p:spPr>
      </p:pic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AF90DDCD-0FC4-4C59-93A8-CBC3BA487D17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878138" y="2240733"/>
            <a:ext cx="4313237" cy="365410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289" y="2793657"/>
            <a:ext cx="14954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3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82268"/>
          </a:xfrm>
        </p:spPr>
        <p:txBody>
          <a:bodyPr/>
          <a:lstStyle/>
          <a:p>
            <a:r>
              <a:rPr lang="ru-RU" dirty="0" smtClean="0"/>
              <a:t>Входные и выходные данные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070" y="1973922"/>
            <a:ext cx="4473145" cy="39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5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E08453E0-2592-443B-AF5C-C37D6C604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4008217"/>
              </p:ext>
            </p:extLst>
          </p:nvPr>
        </p:nvGraphicFramePr>
        <p:xfrm>
          <a:off x="1790701" y="292100"/>
          <a:ext cx="9855199" cy="62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984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2589212" y="181232"/>
            <a:ext cx="4342893" cy="576649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Итоги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>
          <a:xfrm>
            <a:off x="2589212" y="963827"/>
            <a:ext cx="4342893" cy="4939199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Результат работы алгоритма – ДНФ расхождения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Детерминированность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Предсказуемое время выполнения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Множество на диаграмме Эйлера – дискретная функция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Негативная нормальная форма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3"/>
          </p:nvPr>
        </p:nvSpPr>
        <p:spPr>
          <a:xfrm>
            <a:off x="7166957" y="181232"/>
            <a:ext cx="4338673" cy="576649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Перспективы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quarter" idx="4"/>
          </p:nvPr>
        </p:nvSpPr>
        <p:spPr>
          <a:xfrm>
            <a:off x="7166957" y="963827"/>
            <a:ext cx="4338674" cy="4935971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Контроль комбинаторного взрыва с помощью параллелизма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Перенос операции конъюнкции на </a:t>
            </a:r>
            <a:r>
              <a:rPr lang="ru-RU" dirty="0" smtClean="0">
                <a:solidFill>
                  <a:schemeClr val="tx1"/>
                </a:solidFill>
              </a:rPr>
              <a:t>графический процессор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Реализация ссылочного представления троичной матрицы с целью фиксированного потребления памяти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Изменение представления характеристического вектора с бинарного на троичный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7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147</TotalTime>
  <Words>248</Words>
  <Application>Microsoft Office PowerPoint</Application>
  <PresentationFormat>Широкоэкранный</PresentationFormat>
  <Paragraphs>50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Century Gothic</vt:lpstr>
      <vt:lpstr>Times New Roman</vt:lpstr>
      <vt:lpstr>Wingdings 3</vt:lpstr>
      <vt:lpstr>Легкий дым</vt:lpstr>
      <vt:lpstr>Разработка и реализация алгоритма формальной верификации на основе матричных вычислений</vt:lpstr>
      <vt:lpstr>Применение в проектировании систем на кристалле (SoC Design)</vt:lpstr>
      <vt:lpstr>NP-трудность. Современные решения</vt:lpstr>
      <vt:lpstr>Презентация PowerPoint</vt:lpstr>
      <vt:lpstr>Составить ДНФ: F(x,y,z,w)=(x | y &amp; !(w))  &amp; (!(y &amp; z)  ┤  | x) NNF: F(x,y,z,w)=(x |^3  y &amp;^2  !^1 (w))  &amp;^8 ( ┤ !^4 (y)  |^6  !^5 (z) |^7  x) </vt:lpstr>
      <vt:lpstr>Троичная матрица. Операции AND, OR над матрицами</vt:lpstr>
      <vt:lpstr>Входные и выходные данные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реализация алгоритма формальной верификации на основе матричных вычислений</dc:title>
  <dc:creator>Work</dc:creator>
  <cp:lastModifiedBy>student</cp:lastModifiedBy>
  <cp:revision>62</cp:revision>
  <dcterms:created xsi:type="dcterms:W3CDTF">2026-04-14T13:29:28Z</dcterms:created>
  <dcterms:modified xsi:type="dcterms:W3CDTF">2026-04-16T10:08:27Z</dcterms:modified>
</cp:coreProperties>
</file>